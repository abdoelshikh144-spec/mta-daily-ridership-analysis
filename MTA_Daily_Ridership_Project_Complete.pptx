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wide_cinematic_high_resolution_urban_city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532120" cy="6858000"/>
          </a:xfrm>
          <a:prstGeom prst="rect">
            <a:avLst/>
          </a:prstGeom>
          <a:solidFill>
            <a:srgbClr val="0A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effectLst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45720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0A9A5"/>
                </a:solidFill>
                <a:latin typeface="Aptos"/>
              </a:defRPr>
            </a:pPr>
            <a:r>
              <a:t>DATA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572" y="1211580"/>
            <a:ext cx="4944880" cy="61247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MTA Daily</a:t>
            </a:r>
            <a:r>
              <a:rPr lang="en-US" dirty="0"/>
              <a:t> </a:t>
            </a:r>
            <a:r>
              <a:rPr dirty="0"/>
              <a:t>Ridership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" y="2240280"/>
            <a:ext cx="5532120" cy="21410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DDE8F0"/>
                </a:solidFill>
                <a:latin typeface="Aptos"/>
              </a:defRPr>
            </a:pPr>
            <a:r>
              <a:rPr dirty="0"/>
              <a:t>Understanding public transport activity</a:t>
            </a:r>
            <a:r>
              <a:rPr lang="en-US" dirty="0"/>
              <a:t> </a:t>
            </a:r>
            <a:r>
              <a:rPr dirty="0"/>
              <a:t>and recovery after COVID-19</a:t>
            </a:r>
            <a:endParaRPr lang="en-US" dirty="0"/>
          </a:p>
          <a:p>
            <a:pPr>
              <a:spcAft>
                <a:spcPts val="500"/>
              </a:spcAft>
              <a:defRPr sz="1800" b="0">
                <a:solidFill>
                  <a:srgbClr val="DDE8F0"/>
                </a:solidFill>
                <a:latin typeface="Aptos"/>
              </a:defRPr>
            </a:pPr>
            <a:endParaRPr lang="en-US" dirty="0"/>
          </a:p>
          <a:p>
            <a:r>
              <a:rPr lang="en-US" b="1" dirty="0">
                <a:solidFill>
                  <a:schemeClr val="bg1"/>
                </a:solidFill>
              </a:rPr>
              <a:t>Team 1</a:t>
            </a:r>
          </a:p>
          <a:p>
            <a:r>
              <a:rPr lang="en-US" b="1" dirty="0">
                <a:solidFill>
                  <a:schemeClr val="bg1"/>
                </a:solidFill>
              </a:rPr>
              <a:t>Abdalrahman Ashraf – Ali </a:t>
            </a:r>
            <a:r>
              <a:rPr lang="en-US" b="1" dirty="0" err="1">
                <a:solidFill>
                  <a:schemeClr val="bg1"/>
                </a:solidFill>
              </a:rPr>
              <a:t>Abdaltawab</a:t>
            </a:r>
            <a:r>
              <a:rPr lang="en-US" b="1" dirty="0">
                <a:solidFill>
                  <a:schemeClr val="bg1"/>
                </a:solidFill>
              </a:rPr>
              <a:t> – Ali Abdelaziz – Abdallah Hesham – Mohamed Mostafa</a:t>
            </a:r>
          </a:p>
          <a:p>
            <a:pPr>
              <a:spcAft>
                <a:spcPts val="500"/>
              </a:spcAft>
              <a:defRPr sz="1800" b="0">
                <a:solidFill>
                  <a:srgbClr val="DDE8F0"/>
                </a:solidFill>
                <a:latin typeface="Aptos"/>
              </a:defRPr>
            </a:pP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94944" y="4251960"/>
            <a:ext cx="1051560" cy="54864"/>
          </a:xfrm>
          <a:prstGeom prst="rect">
            <a:avLst/>
          </a:prstGeom>
          <a:solidFill>
            <a:srgbClr val="F2B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4526280"/>
            <a:ext cx="49377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PROJECT PLANNING  •  REQUIREMENTS  •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6263640"/>
            <a:ext cx="557784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DDE8F0"/>
                </a:solidFill>
                <a:latin typeface="Aptos"/>
              </a:defRPr>
            </a:pPr>
            <a:r>
              <a:t>Source: MTA Daily Ridership dataset and data dictionary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01 •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Project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A data-driven look at daily activity across New York’s MTA transportation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B9C94"/>
                </a:solidFill>
                <a:latin typeface="Aptos"/>
              </a:rPr>
              <a:t>1,706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E6D7E"/>
                </a:solidFill>
                <a:latin typeface="Aptos"/>
              </a:rPr>
              <a:t>daily 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7451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79" y="2039112"/>
            <a:ext cx="228600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 dirty="0">
                <a:solidFill>
                  <a:srgbClr val="1B9C94"/>
                </a:solidFill>
                <a:latin typeface="Aptos"/>
              </a:rPr>
              <a:t>1</a:t>
            </a:r>
            <a:r>
              <a:rPr lang="ar-EG" sz="2400" b="1" i="0" dirty="0">
                <a:solidFill>
                  <a:srgbClr val="1B9C94"/>
                </a:solidFill>
                <a:latin typeface="Aptos"/>
              </a:rPr>
              <a:t>5</a:t>
            </a:r>
            <a:endParaRPr sz="2400" b="1" i="0" dirty="0">
              <a:solidFill>
                <a:srgbClr val="1B9C9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11879" y="248716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E6D7E"/>
                </a:solidFill>
                <a:latin typeface="Aptos"/>
              </a:rPr>
              <a:t>columns in supplied 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7451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39112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B9C94"/>
                </a:solidFill>
                <a:latin typeface="Aptos"/>
              </a:rPr>
              <a:t>4+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8716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E6D7E"/>
                </a:solidFill>
                <a:latin typeface="Aptos"/>
              </a:rPr>
              <a:t>Mar 2020 – Oct 2024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74519"/>
            <a:ext cx="2560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2039112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B9C94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48716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E6D7E"/>
                </a:solidFill>
                <a:latin typeface="Aptos"/>
              </a:rPr>
              <a:t>service / traffic measures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337560"/>
            <a:ext cx="53949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3337560"/>
            <a:ext cx="73152" cy="1965960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3483864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Core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67911"/>
            <a:ext cx="502920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25303D"/>
                </a:solidFill>
                <a:latin typeface="Aptos"/>
              </a:rPr>
              <a:t>How did ridership and traffic change over time, and how close did each service get to comparable pre-pandemic levels?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337560"/>
            <a:ext cx="534924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337560"/>
            <a:ext cx="73152" cy="1965960"/>
          </a:xfrm>
          <a:prstGeom prst="rect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3483864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Project deliverables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867911"/>
            <a:ext cx="4983479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5303D"/>
                </a:solidFill>
                <a:latin typeface="Aptos"/>
              </a:rPr>
              <a:t>Data overview, data-quality checks, trend comparisons, stakeholder requirements, project risks, findings, and recommendations.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54B4B"/>
                </a:solidFill>
                <a:latin typeface="Aptos"/>
              </a:rPr>
              <a:t>Scope note: the supplied CSV contains daily aggregate measures; it does not identify individual passengers.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01 •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Project proposal: problem, 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Define the problem and the boundaries of the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352044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73152" cy="3337560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97510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59152"/>
            <a:ext cx="315468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5303D"/>
                </a:solidFill>
                <a:latin typeface="Aptos"/>
              </a:rPr>
              <a:t>Daily counts are difficult to interpret without context. Services differ in scale, collection methods, and how they compare with pre-pandemic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73152" cy="3337560"/>
          </a:xfrm>
          <a:prstGeom prst="rect">
            <a:avLst/>
          </a:prstGeom>
          <a:solidFill>
            <a:srgbClr val="1F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7510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9152"/>
            <a:ext cx="315468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5303D"/>
                </a:solidFill>
                <a:latin typeface="Aptos"/>
              </a:rPr>
              <a:t>• Organize and inspect the dataset
• Compare service trends over time
• Review pre-pandemic comparisons
• Identify missing data and caveats
• Communicate findings clearly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28800"/>
            <a:ext cx="347472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828800"/>
            <a:ext cx="73152" cy="3337560"/>
          </a:xfrm>
          <a:prstGeom prst="rect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9751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Scope &amp; exclusions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59152"/>
            <a:ext cx="310896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Included: daily aggregate data, time-series trends, comparison percentages, and data-quality checks.
Excluded: individual passenger tracking and causal claims about why patterns changed.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62356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Expected value: support informed discussion about service demand and recovery; provide a reproducible analysis foundation.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02 • 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Dataset &amp; service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Source: MTA Daily Ridership Data Overview, supplied CSV, and data dictionary.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6675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Service / field group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represents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Subways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Estimated daily subway ridership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Buses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Estimated daily bus ridership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LIRR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Long Island Rail Road ridership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Metro-North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Metro-North Railroad ridership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Access-A-Ride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Scheduled trips as a demand indicator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Bridges &amp; Tunnels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Preliminary total traffic volume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Staten Island Railway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Estimated daily railway ridership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28800"/>
            <a:ext cx="38862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828800"/>
            <a:ext cx="73152" cy="1234440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1975104"/>
            <a:ext cx="3520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Date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359152"/>
            <a:ext cx="35204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5303D"/>
                </a:solidFill>
                <a:latin typeface="Aptos"/>
              </a:rPr>
              <a:t>1 Mar 2020 – 31 Oct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246120"/>
            <a:ext cx="38862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3246120"/>
            <a:ext cx="73152" cy="1234440"/>
          </a:xfrm>
          <a:prstGeom prst="rect">
            <a:avLst/>
          </a:prstGeom>
          <a:solidFill>
            <a:srgbClr val="1F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3392424"/>
            <a:ext cx="3520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Daily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776472"/>
            <a:ext cx="35204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5303D"/>
                </a:solidFill>
                <a:latin typeface="Aptos"/>
              </a:rPr>
              <a:t>One daily network snapshot per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663440"/>
            <a:ext cx="38862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4663440"/>
            <a:ext cx="73152" cy="1234440"/>
          </a:xfrm>
          <a:prstGeom prst="rect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4809744"/>
            <a:ext cx="3520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Coverage caveat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5193792"/>
            <a:ext cx="35204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5303D"/>
                </a:solidFill>
                <a:latin typeface="Aptos"/>
              </a:rPr>
              <a:t>LIRR and Metro-North start later in the published dataset (from 1 Apr 2020).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03 • PROJECT PLANNING &amp;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Project plan &amp; Gantt-style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Illustrative four-week schedule — replace with the team’s actual 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Workstream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Week 1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Week 2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Week 3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Week 4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Milestone / deliverable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Scope &amp; requirements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●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Proposal + requirements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Data audit &amp; cleaning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●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Clean, validated dataset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Exploration &amp; analysis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●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Charts + key findings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Dashboard &amp; presentation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●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Final presentation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75488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Key 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698480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5303D"/>
                </a:solidFill>
                <a:latin typeface="Aptos"/>
              </a:defRPr>
            </a:pPr>
            <a:r>
              <a:t>•  M1 — Scope and success criteria agreed</a:t>
            </a:r>
          </a:p>
          <a:p>
            <a:pPr>
              <a:spcAft>
                <a:spcPts val="300"/>
              </a:spcAft>
              <a:defRPr sz="1300">
                <a:solidFill>
                  <a:srgbClr val="25303D"/>
                </a:solidFill>
                <a:latin typeface="Aptos"/>
              </a:defRPr>
            </a:pPr>
            <a:r>
              <a:t>•  M2 — Data checks documented and issues reviewed</a:t>
            </a:r>
          </a:p>
          <a:p>
            <a:pPr>
              <a:spcAft>
                <a:spcPts val="300"/>
              </a:spcAft>
              <a:defRPr sz="1300">
                <a:solidFill>
                  <a:srgbClr val="25303D"/>
                </a:solidFill>
                <a:latin typeface="Aptos"/>
              </a:defRPr>
            </a:pPr>
            <a:r>
              <a:t>•  M3 — Analysis outputs validated</a:t>
            </a:r>
          </a:p>
          <a:p>
            <a:pPr>
              <a:spcAft>
                <a:spcPts val="300"/>
              </a:spcAft>
              <a:defRPr sz="1300">
                <a:solidFill>
                  <a:srgbClr val="25303D"/>
                </a:solidFill>
                <a:latin typeface="Aptos"/>
              </a:defRPr>
            </a:pPr>
            <a:r>
              <a:t>•  M4 — Presentation reviewed and rehearsed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03 • PROJECT PLANNING &amp;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Resource allocation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Suggested planning assumptions; update to match what the team actually 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10972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Resource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Allocation / use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output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People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5 team members; assign one primary owner per workstream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Named responsibility matrix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Data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MTA Daily Ridership CSV + data dictionary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Documented source and field definitions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Software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Python / Jupyter, SQL engine, visualization tool, GitHub (as applicable)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Reproducible workflow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Time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Illustrative estimate: 8–10 hours per person per week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Work completed within schedule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440680"/>
            <a:ext cx="5349240" cy="9235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5440680"/>
            <a:ext cx="73152" cy="758952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5586984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Deliverable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5971032"/>
            <a:ext cx="4983479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5303D"/>
                </a:solidFill>
                <a:latin typeface="Aptos"/>
              </a:rPr>
              <a:t>Validated dataset and quality-check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440680"/>
            <a:ext cx="5349240" cy="7589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5440680"/>
            <a:ext cx="73152" cy="640080"/>
          </a:xfrm>
          <a:prstGeom prst="rect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5586984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Deliverable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5971032"/>
            <a:ext cx="4983479" cy="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5303D"/>
                </a:solidFill>
                <a:latin typeface="Aptos"/>
              </a:rPr>
              <a:t>Charts, interpretations, and final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03 • PROJECT PLANNING &amp;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Task assignment: five-person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Replace [Member 1–5] with names and adjust assignments to reflect actual contributions.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2014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Team member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Primary responsibilities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Concrete deliverables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rPr dirty="0"/>
                        <a:t>Mohamed Mostafa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Project coordination; proposal; scope; timeline; final integration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Project proposal, timeline, meeting / progress notes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Abdalrahman Ashraf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Dataset understanding; data dictionary; source definitions; stakeholder requirements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Dataset overview, stakeholder analysis, requirements list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Abdallah Hesham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Data cleaning; missing values; duplicates; data types; validation checks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Data-quality checklist, cleaning log, validation summary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Ali Abdelaziz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Exploratory analysis; time trends; pre-pandemic comparisons; chart design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Analysis charts, metric definitions, key findings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Ali Abdaltawab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Recommendations; limitations; presentation design; rehearsal and Q&amp;A coordination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rPr dirty="0"/>
                        <a:t>Recommendations, slide consistency, speaker notes / Q&amp;A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199632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B9C94"/>
                </a:solidFill>
                <a:latin typeface="Aptos"/>
              </a:rPr>
              <a:t>Shared responsibility: all members review calculations, verify claims, and prepare to explain the full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03 • PROJECT PLANNING &amp;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Roles, risks &amp; mitigation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Suggested structure; confirm ownership with the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201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Potential impact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 / response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Missing or revised figures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Misleading summaries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Document caveats; recheck source release notes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Member 3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Unfair comparisons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Wrong conclusions across services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Compare matching months and day types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Member 4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Overclaiming causality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Unsupported explanations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Describe patterns; do not claim cause from trends alone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Member 1 + 4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Time pressure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Incomplete deliverables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Prioritize core outputs; check progress weekly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Member 1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Inconsistent definitions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Confusing interpretation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Use data dictionary; label units and sources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Member 2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108192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5E6D7E"/>
                </a:solidFill>
                <a:latin typeface="Aptos"/>
              </a:rPr>
              <a:t>Risk status should be reviewed at each milestone; update the owner column to match the final task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03 • PROJECT PLANNING &amp;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KPIs &amp; project success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Use measurable checks rather than vague statements of success.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356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920240"/>
            <a:ext cx="329184" cy="329184"/>
          </a:xfrm>
          <a:prstGeom prst="ellipse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911095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Completeness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11095"/>
            <a:ext cx="75895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5303D"/>
                </a:solidFill>
                <a:latin typeface="Aptos"/>
              </a:rPr>
              <a:t>Missing values and affected fields reported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87752"/>
            <a:ext cx="108356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2724912"/>
            <a:ext cx="329184" cy="329184"/>
          </a:xfrm>
          <a:prstGeom prst="ellipse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2715768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15768"/>
            <a:ext cx="75895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5303D"/>
                </a:solidFill>
                <a:latin typeface="Aptos"/>
              </a:rPr>
              <a:t>Key summaries cross-checked against source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92424"/>
            <a:ext cx="108356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3529584"/>
            <a:ext cx="329184" cy="329184"/>
          </a:xfrm>
          <a:prstGeom prst="ellipse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520440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Clarity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520440"/>
            <a:ext cx="75895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5303D"/>
                </a:solidFill>
                <a:latin typeface="Aptos"/>
              </a:rPr>
              <a:t>Each chart has one main takeaway and clear labels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97096"/>
            <a:ext cx="108356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4334256"/>
            <a:ext cx="329184" cy="329184"/>
          </a:xfrm>
          <a:prstGeom prst="ellipse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4325112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Reproducibility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325112"/>
            <a:ext cx="75895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5303D"/>
                </a:solidFill>
                <a:latin typeface="Aptos"/>
              </a:rPr>
              <a:t>Steps, definitions, and transformations documented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01768"/>
            <a:ext cx="108356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68680" y="5138928"/>
            <a:ext cx="329184" cy="329184"/>
          </a:xfrm>
          <a:prstGeom prst="ellipse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5129783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12340"/>
                </a:solidFill>
                <a:latin typeface="Aptos"/>
              </a:rPr>
              <a:t>Timeliness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129783"/>
            <a:ext cx="75895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5303D"/>
                </a:solidFill>
                <a:latin typeface="Aptos"/>
              </a:rPr>
              <a:t>Milestones and presentation completed on 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89320"/>
            <a:ext cx="10607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B9C94"/>
                </a:solidFill>
                <a:latin typeface="Aptos"/>
              </a:rPr>
              <a:t>Success is demonstrated by documented checks and traceable outputs—not by chart appearance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04 • REQUIREMENTS GATHERING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Stakeholder analysis &amp;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Identify who uses the analysis and what they need from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10972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Stakeholder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Likely need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How the project supports it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Transit planners / operations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Understand changes in service demand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Time trends and comparable-period summaries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Public officials / policy teams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Clear, defensible evidence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Traceable metrics and visible caveats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Researchers / students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Understand dataset structure and limitations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Field definitions and reproducible methodology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Journalists / public users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Interpret figures responsibly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Plain-language labels and source notes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MTA data users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Compare service activity over time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Service-level filters and comparisons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989320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E6D7E"/>
                </a:solidFill>
                <a:latin typeface="Aptos"/>
              </a:rPr>
              <a:t>Stakeholder needs above are inferred from the dataset’s public purpose; validate them with actual project stakeholders when possible.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04 • REQUIREMENTS GATHERING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Functional &amp; non-functional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Functional requirements define what the analysis does; non-functional requirements define its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949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3840480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75104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9152"/>
            <a:ext cx="502920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5303D"/>
                </a:solidFill>
                <a:latin typeface="Aptos"/>
              </a:rPr>
              <a:t>FR1 — Load the daily CSV and data dictionary
FR2 — Filter and summarize by date and service
FR3 — Compare daily activity over time
FR4 — Display pre-pandemic comparison percentages
FR5 — Flag missing data and explain caveats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73152" cy="3840480"/>
          </a:xfrm>
          <a:prstGeom prst="rect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975104"/>
            <a:ext cx="49377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Non-functional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59152"/>
            <a:ext cx="4937759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NFR1 — Calculations must be accurate and traceable
NFR2 — Charts must be readable and labeled
NFR3 — Workflow should be reproducible
NFR4 — Definitions and limitations must be clear
NFR5 — Analysis should run efficiently for a classroom demonstration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Acceptance criterion: every chart states units, date coverage, source, and known caveats.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04 • REQUIREMENTS GATHERING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User stories &amp;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Example user stories derived from the dataset’s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204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1920240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7510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As a planner…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9152"/>
            <a:ext cx="315468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5303D"/>
                </a:solidFill>
                <a:latin typeface="Aptos"/>
              </a:rPr>
              <a:t>I want to compare service activity across dates so I can spot changes in demand.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73152" cy="1920240"/>
          </a:xfrm>
          <a:prstGeom prst="rect">
            <a:avLst/>
          </a:prstGeom>
          <a:solidFill>
            <a:srgbClr val="1F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7510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As a researcher…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9152"/>
            <a:ext cx="315468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5303D"/>
                </a:solidFill>
                <a:latin typeface="Aptos"/>
              </a:rPr>
              <a:t>I want comparable pre-pandemic percentages so I can contextualize current activity.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73152" cy="1920240"/>
          </a:xfrm>
          <a:prstGeom prst="rect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751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As a public user…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59152"/>
            <a:ext cx="310896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5303D"/>
                </a:solidFill>
                <a:latin typeface="Aptos"/>
              </a:rPr>
              <a:t>I want clear definitions and caveats so I can interpret values responsibly.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60520"/>
            <a:ext cx="107899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PRIMARY USE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10058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Input: daily MTA dataset     →     Action: choose a service and time period     →     Output: trend chart + comparison context     →     Use: identify patterns for further investigation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54B4B"/>
                </a:solidFill>
                <a:latin typeface="Aptos"/>
              </a:rPr>
              <a:t>Scope boundary: aggregate trend analysis only; no individual journey tracking.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05 •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Data quality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Quality checks should preserve source meaning instead of hiding uncertainty.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0642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42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Step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Check / action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matters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Parse Date as a date field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Enables reliable time-series analysis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Convert numeric measures safely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Avoids text values being treated as numbers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Check duplicate dates and date gaps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Confirms daily coverage and uniqueness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Profile missing values by column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Separates missing from zero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Inspect unusual values and sudden changes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Flags possible anomalies or revisions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Keep a transformation log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Makes the workflow reproducible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144768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54B4B"/>
                </a:solidFill>
                <a:latin typeface="Aptos"/>
              </a:rPr>
              <a:t>Do not silently replace missing values with zero; missing can mean unavailable or inapplicable.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05 •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Source caveats &amp; comparison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Keep definitions visible when interpreting service measures.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53492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73152" cy="3566160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975104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Source caveats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59152"/>
            <a:ext cx="4983479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• Subway counts use MetroCard and OMNY taps/swipes
• Some bus figures were model-estimated during 2020
• Rail ridership is estimated from ticket sales
• Access-A-Ride measures scheduled trips
• Recent figures may be revised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4924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73152" cy="3566160"/>
          </a:xfrm>
          <a:prstGeom prst="rect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975104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Pre-pandemic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59152"/>
            <a:ext cx="4983479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The MTA comparison uses 2019 monthly average ridership for the same day type (weekday, Saturday, Sunday/holiday) and equivalent month.
The methodology was updated in February 2023.
A published daily estimate may differ from official totals reported elsewhere by the MTA.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54B4B"/>
                </a:solidFill>
                <a:latin typeface="Aptos"/>
              </a:rPr>
              <a:t>Counts are service-specific measures and should not be added together as if they were one uniform passenger total.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06 •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Exploratory analysis: trends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Monthly averages can smooth daily volatility; services operate at different scales.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0981" y="6657023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1771" y="128016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81771" y="128016"/>
            <a:ext cx="73152" cy="2194560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82938" y="274320"/>
            <a:ext cx="31546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112340"/>
                </a:solidFill>
                <a:latin typeface="Aptos"/>
              </a:rPr>
              <a:t>Read the </a:t>
            </a:r>
            <a:r>
              <a:rPr lang="en-US" sz="1600" b="1" i="0" dirty="0">
                <a:solidFill>
                  <a:srgbClr val="112340"/>
                </a:solidFill>
                <a:latin typeface="Aptos"/>
              </a:rPr>
              <a:t>chart</a:t>
            </a:r>
            <a:endParaRPr sz="1600" b="1" i="0" dirty="0">
              <a:solidFill>
                <a:srgbClr val="11234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82938" y="658368"/>
            <a:ext cx="3154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C2B3B"/>
                </a:solidFill>
                <a:latin typeface="Aptos"/>
              </a:defRPr>
            </a:pPr>
            <a:r>
              <a:rPr lang="en-US" sz="1600" dirty="0"/>
              <a:t>Look for broad changes over time, not explanations of cause.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1770" y="2257044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81770" y="2257044"/>
            <a:ext cx="73152" cy="2194560"/>
          </a:xfrm>
          <a:prstGeom prst="rect">
            <a:avLst/>
          </a:prstGeom>
          <a:solidFill>
            <a:srgbClr val="1F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2938" y="2403348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Scale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2938" y="2787396"/>
            <a:ext cx="315468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5303D"/>
                </a:solidFill>
                <a:latin typeface="Aptos"/>
              </a:rPr>
              <a:t>Subway and bus volumes are much larger than some other services; separate scales may be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1770" y="4479227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1770" y="4479227"/>
            <a:ext cx="73152" cy="2194560"/>
          </a:xfrm>
          <a:prstGeom prst="rect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2938" y="4625531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2938" y="5009579"/>
            <a:ext cx="310896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5303D"/>
                </a:solidFill>
                <a:latin typeface="Aptos"/>
              </a:rPr>
              <a:t>Compare the same months and day types before drawing operational conclusions.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543" y="4960620"/>
            <a:ext cx="7395971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4143" y="5143500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Chart placeholder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2943" y="5143500"/>
            <a:ext cx="50749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 dirty="0">
                <a:solidFill>
                  <a:srgbClr val="5E6D7E"/>
                </a:solidFill>
                <a:latin typeface="Aptos"/>
              </a:rPr>
              <a:t>Insert your verified monthly trend chart(s) here. Label axes, units, date coverage, and source.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937" y="6270785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54B4B"/>
                </a:solidFill>
                <a:latin typeface="Aptos"/>
              </a:rPr>
              <a:t>Do not infer causation from a trend alone.</a:t>
            </a:r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56BE4328-5327-4E8B-3484-479D6174EF6E}"/>
              </a:ext>
            </a:extLst>
          </p:cNvPr>
          <p:cNvSpPr/>
          <p:nvPr/>
        </p:nvSpPr>
        <p:spPr>
          <a:xfrm>
            <a:off x="281937" y="1554480"/>
            <a:ext cx="7259577" cy="32583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monthly_trends.png">
            <a:extLst>
              <a:ext uri="{FF2B5EF4-FFF2-40B4-BE49-F238E27FC236}">
                <a16:creationId xmlns:a16="http://schemas.microsoft.com/office/drawing/2014/main" id="{087D80D7-8B7C-DC1E-8E58-C1608813C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6" y="1853184"/>
            <a:ext cx="7050918" cy="261091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06 •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Pre-pandemic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Percentages compare each service with a comparable pre-pandemic day; 100% is the reference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92608"/>
            <a:ext cx="3429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38160" y="292608"/>
            <a:ext cx="73152" cy="1417320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9327" y="438912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Subways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7" y="822960"/>
            <a:ext cx="30632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Latest row in supplied file: 70% of comparable pre-pandemic level.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159508"/>
            <a:ext cx="3429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2159508"/>
            <a:ext cx="73152" cy="1417320"/>
          </a:xfrm>
          <a:prstGeom prst="rect">
            <a:avLst/>
          </a:prstGeom>
          <a:solidFill>
            <a:srgbClr val="1F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2305812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Buses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689860"/>
            <a:ext cx="30632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Latest row in supplied file: 58% of comparable pre-pandemic level.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275308"/>
            <a:ext cx="33832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4275308"/>
            <a:ext cx="73152" cy="1417320"/>
          </a:xfrm>
          <a:prstGeom prst="rect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4421612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4805660"/>
            <a:ext cx="30175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Above 100% means the measure exceeds its reference level.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5023104"/>
            <a:ext cx="76352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5233416"/>
            <a:ext cx="1423519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54B4B"/>
                </a:solidFill>
                <a:latin typeface="Aptos"/>
              </a:rPr>
              <a:t>Important date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205984"/>
            <a:ext cx="5758783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The latest row in the supplied file is 31 Oct 2024. It is not necessarily today’s live MTA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382881"/>
            <a:ext cx="6510528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5E6D7E"/>
                </a:solidFill>
                <a:latin typeface="Aptos"/>
              </a:rPr>
              <a:t>Verify these percentages against the supplied CSV before presenting; refresh if your working file differs.</a:t>
            </a:r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6C7CDC00-6042-C9CC-406A-EBD95CC4F863}"/>
              </a:ext>
            </a:extLst>
          </p:cNvPr>
          <p:cNvSpPr/>
          <p:nvPr/>
        </p:nvSpPr>
        <p:spPr>
          <a:xfrm>
            <a:off x="640080" y="1554479"/>
            <a:ext cx="6281928" cy="3343287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latest_comparison.png">
            <a:extLst>
              <a:ext uri="{FF2B5EF4-FFF2-40B4-BE49-F238E27FC236}">
                <a16:creationId xmlns:a16="http://schemas.microsoft.com/office/drawing/2014/main" id="{05E8265F-9089-981B-CA7F-7D4A16272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12" y="1645920"/>
            <a:ext cx="5658037" cy="31285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06 •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Data quality: audit results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Report observed checks separately from recommended checks.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290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1600200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751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Observed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9152"/>
            <a:ext cx="306324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5303D"/>
                </a:solidFill>
                <a:latin typeface="Aptos"/>
              </a:rPr>
              <a:t>The current draft reports no missing values in selected service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1600200"/>
          </a:xfrm>
          <a:prstGeom prst="rect">
            <a:avLst/>
          </a:prstGeom>
          <a:solidFill>
            <a:srgbClr val="1F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9751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Recommended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59152"/>
            <a:ext cx="306324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5303D"/>
                </a:solidFill>
                <a:latin typeface="Aptos"/>
              </a:rPr>
              <a:t>Keep missing distinct from zero; report coverage by service and time period.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3832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73152" cy="1600200"/>
          </a:xfrm>
          <a:prstGeom prst="rect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975104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Validation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359152"/>
            <a:ext cx="301752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5303D"/>
                </a:solidFill>
                <a:latin typeface="Aptos"/>
              </a:rPr>
              <a:t>Check duplicate dates, date gaps, negative counts, and sudden jumps.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187952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12340"/>
                </a:solidFill>
                <a:latin typeface="Aptos"/>
              </a:rPr>
              <a:t>Evidence to include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169663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5303D"/>
                </a:solidFill>
                <a:latin typeface="Aptos"/>
              </a:rPr>
              <a:t>Add the actual null-count table, duplicate-date result, and any corrections made during cleaning.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54B4B"/>
                </a:solidFill>
                <a:latin typeface="Aptos"/>
              </a:rPr>
              <a:t>Only report '0 missing values' if you have re-run and confirmed the audit on the final dataset.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07 • LITERATURE REVIEW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Source review, feedback &amp; suggested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This is a project-focused review of supplied source documentation, not a systematic academic literature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352044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73152" cy="3337560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97510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What the source provides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59152"/>
            <a:ext cx="315468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• Publicly documented dataset
• Daily estimates across services
• Pre-pandemic comparison measures
• Data dictionary and collection notes
• Caveats about revisions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73152" cy="3337560"/>
          </a:xfrm>
          <a:prstGeom prst="rect">
            <a:avLst/>
          </a:prstGeom>
          <a:solidFill>
            <a:srgbClr val="1F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7510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Evaluation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9152"/>
            <a:ext cx="315468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• Are service definitions consistent?
• Are missing values explained?
• Are comparisons fair across day types?
• Are charts easy to interpret?
• Are claims traceable to source fields?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28800"/>
            <a:ext cx="347472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828800"/>
            <a:ext cx="73152" cy="3337560"/>
          </a:xfrm>
          <a:prstGeom prst="rect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97510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Suggested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59152"/>
            <a:ext cx="3108960" cy="2697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• Add interactive service/date filters
• Annotate verified event dates
• Separate weekdays and weekends
• Automate data-quality checks
• Track source versions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54B4B"/>
                </a:solidFill>
                <a:latin typeface="Aptos"/>
              </a:rPr>
              <a:t>Lecturer feedback: [Insert actual feedback here, or write “Pending” if no feedback has been received.]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08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Recommendations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Use the analysis as a starting point for investigation, not a complete explanation of transit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539496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73152" cy="3429000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975104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59152"/>
            <a:ext cx="5029200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1. Compare service trends on consistent scales.
2. Separate weekdays, Saturdays, and Sundays/holidays.
3. Document missing data and revision windows.
4. Build a dashboard with service/date filters.
5. Add external context only when verified and cited.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492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73152" cy="3429000"/>
          </a:xfrm>
          <a:prstGeom prst="rect">
            <a:avLst/>
          </a:prstGeom>
          <a:solidFill>
            <a:srgbClr val="F2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975104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12340"/>
                </a:solidFill>
                <a:latin typeface="Aptos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59152"/>
            <a:ext cx="4983479" cy="2788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5303D"/>
                </a:solidFill>
                <a:latin typeface="Aptos"/>
              </a:rPr>
              <a:t>• Aggregate data cannot explain individual behavior.
• Collection methods vary by service.
• Recent values may be revised.
• Access-A-Ride is scheduled trips, not completed trips.
• A trend or percentage alone does not establish causation.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6070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12340"/>
                </a:solidFill>
                <a:latin typeface="Aptos"/>
              </a:rPr>
              <a:t>Bottom line: the dataset is useful for monitoring broad patterns—provided definitions and caveats stay visible.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9C94"/>
                </a:solidFill>
                <a:latin typeface="Apto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12340"/>
                </a:solidFill>
                <a:latin typeface="Aptos"/>
              </a:rPr>
              <a:t>Key definitions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E6D7E"/>
                </a:solidFill>
                <a:latin typeface="Aptos"/>
              </a:rPr>
              <a:t>Use these definitions consistently during the presentation and Q&amp;A.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429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5E6D7E"/>
                </a:solidFill>
                <a:latin typeface="Aptos"/>
              </a:rPr>
              <a:t>MTA DAILY RIDERSHIP  •  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83080"/>
          <a:ext cx="109728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Term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Definition</a:t>
                      </a:r>
                    </a:p>
                  </a:txBody>
                  <a:tcPr marL="73152" marR="73152" marB="36576" anchor="ctr">
                    <a:solidFill>
                      <a:srgbClr val="11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Total estimated ridership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Daily estimated ridership for the relevant service; collection method differs by service.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Comparable pre-pandemic day (%)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Percentage against a matching 2019 day type and equivalent month under MTA methodology.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Access-A-Ride scheduled trips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Demand indicator based on scheduled trips, not completed trips.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Bridges &amp; Tunnels traffic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Preliminary total traffic volume collected through toll systems at seven bridges and two tunnels.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KPI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Key Performance Indicator: a measurable criterion used to assess project quality or progress.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Functional requirement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A capability or task the analytical solution must perform.</a:t>
                      </a:r>
                    </a:p>
                  </a:txBody>
                  <a:tcPr marL="73152" marR="73152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Non-functional requirement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5303D"/>
                          </a:solidFill>
                          <a:latin typeface="Aptos"/>
                        </a:defRPr>
                      </a:pPr>
                      <a:r>
                        <a:t>A quality constraint, such as accuracy, readability, reliability, or reproducibility.</a:t>
                      </a:r>
                    </a:p>
                  </a:txBody>
                  <a:tcPr marL="73152"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2413</Words>
  <Application>Microsoft Office PowerPoint</Application>
  <PresentationFormat>Widescreen</PresentationFormat>
  <Paragraphs>338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Abdo Elshikh</cp:lastModifiedBy>
  <cp:revision>3</cp:revision>
  <dcterms:created xsi:type="dcterms:W3CDTF">2013-01-27T09:14:16Z</dcterms:created>
  <dcterms:modified xsi:type="dcterms:W3CDTF">2026-10-19T15:52:06Z</dcterms:modified>
  <cp:category/>
</cp:coreProperties>
</file>